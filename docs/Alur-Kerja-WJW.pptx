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-bleed"/>
          <p:cNvSpPr/>
          <p:nvPr/>
        </p:nvSpPr>
        <p:spPr>
          <a:xfrm>
            <a:off x="-1463040" y="4480560"/>
            <a:ext cx="6583680" cy="3840480"/>
          </a:xfrm>
          <a:prstGeom prst="ellipse">
            <a:avLst/>
          </a:prstGeom>
          <a:solidFill>
            <a:srgbClr val="11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17904"/>
            <a:ext cx="841248" cy="841248"/>
          </a:xfrm>
          <a:prstGeom prst="roundRect">
            <a:avLst>
              <a:gd name="adj" fmla="val 22000"/>
            </a:avLst>
          </a:prstGeom>
          <a:solidFill>
            <a:srgbClr val="2EC27E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042417"/>
                </a:solidFill>
                <a:latin typeface="Segoe UI"/>
              </a:rPr>
              <a:t>WJW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48132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EF2F8"/>
                </a:solidFill>
                <a:latin typeface="Segoe UI"/>
              </a:rPr>
              <a:t>Warga Jaga Warga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672" y="2286000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27E"/>
                </a:solidFill>
                <a:latin typeface="Segoe UI"/>
              </a:rPr>
              <a:t>Aplikasi keamanan lingkungan warga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7BD"/>
                </a:solidFill>
                <a:latin typeface="Segoe UI"/>
              </a:rPr>
              <a:t>Diagram Alur Kerja Aplikasi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7BD"/>
                </a:solidFill>
                <a:latin typeface="Segoe UI"/>
              </a:rPr>
              <a:t>Dari pendaftaran warga sampai penanganan darurat.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06240"/>
            <a:ext cx="1561795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58A6FF"/>
                </a:solidFill>
                <a:latin typeface="Segoe UI"/>
              </a:rPr>
              <a:t>3 Cara Bergabung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9347" y="4206240"/>
            <a:ext cx="1239926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FF4D5E"/>
                </a:solidFill>
                <a:latin typeface="Segoe UI"/>
              </a:rPr>
              <a:t>Tombol Panik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5577" y="4206240"/>
            <a:ext cx="1642262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A371F7"/>
                </a:solidFill>
                <a:latin typeface="Segoe UI"/>
              </a:rPr>
              <a:t>Persetujuan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4144" y="4206240"/>
            <a:ext cx="1561795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2EC27E"/>
                </a:solidFill>
                <a:latin typeface="Segoe UI"/>
              </a:rPr>
              <a:t>Jaringan Bantuan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891"/>
                </a:solidFill>
                <a:latin typeface="Segoe UI"/>
              </a:rPr>
              <a:t>Versi 1 (MVP)  ·  Bahasa Indonesia / English / Basa Sunda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063240" cy="356616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8288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891"/>
                </a:solidFill>
                <a:latin typeface="Segoe UI"/>
              </a:rPr>
              <a:t>ISI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22208" y="219913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1742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Peta alur keseluruhan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22208" y="267462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929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Cara gabung / buat lingkungan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8" y="315010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16839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Persetujuan admin &amp; peran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22208" y="36255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4388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Alur tombol panik (MVP)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22208" y="41010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1193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Penerima &amp; respons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45765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9485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Peran &amp; hak akses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06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Dokumen ini menggambarkan aplikasi yang sudah berjalan, bukan rencana.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C27E"/>
                </a:solidFill>
                <a:latin typeface="Segoe UI"/>
              </a:rPr>
              <a:t>01  ·  GAMBARAN UMUM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Peta Alur Keseluruhan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58A6FF"/>
                </a:solidFill>
                <a:latin typeface="Segoe UI"/>
              </a:rPr>
              <a:t>MASUK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298448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A371F7"/>
                </a:solidFill>
                <a:latin typeface="Segoe UI"/>
              </a:rPr>
              <a:t>VERIFIKASI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1298448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2EC27E"/>
                </a:solidFill>
                <a:latin typeface="Segoe UI"/>
              </a:rPr>
              <a:t>PENGGUNAAN HARIAN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298448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FF4D5E"/>
                </a:solidFill>
                <a:latin typeface="Segoe UI"/>
              </a:rPr>
              <a:t>DARURAT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28800"/>
            <a:ext cx="2487168" cy="65836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Buka aplikasi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Pilih bahasa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(ID / EN / SU)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82496" y="2560320"/>
            <a:ext cx="182880" cy="29260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926080"/>
            <a:ext cx="2487168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Gabung / Buat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1. Kode undangan / QR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2. Cari lingkungan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3. Buat baru →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828800"/>
            <a:ext cx="2487168" cy="65836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Antre persetujuan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Status: menunggu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2560320"/>
            <a:ext cx="182880" cy="29260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0128" y="2926080"/>
            <a:ext cx="2487168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Admin memutuskan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Terima → Warga /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Satpam / Admin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atau Tolak + alasan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828800"/>
            <a:ext cx="2487168" cy="65836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Sapaan pribadi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“Apa kabar hari ini,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&lt;nama&gt;?”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242048" y="2560320"/>
            <a:ext cx="182880" cy="29260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9904" y="2926080"/>
            <a:ext cx="2487168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Fitur harian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Lapor · Peta area · Tamu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Patroli · Pengumuman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Jaringan bantuan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828800"/>
            <a:ext cx="2487168" cy="65836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Tombol DARURAT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Tahan 2 detik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021824" y="2560320"/>
            <a:ext cx="182880" cy="29260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2926080"/>
            <a:ext cx="2487168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Kirim peringatan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GPS · profil · suara 15s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foto/video · waktu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→ jaringan bantuan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54096" y="2002536"/>
            <a:ext cx="219456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833872" y="2002536"/>
            <a:ext cx="219456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613648" y="2002536"/>
            <a:ext cx="219456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352" y="4224528"/>
            <a:ext cx="10826496" cy="11887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891"/>
                </a:solidFill>
                <a:latin typeface="Segoe UI"/>
              </a:rPr>
              <a:t>BERJALAN DI LATAR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7316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FFB545"/>
                </a:solidFill>
                <a:latin typeface="Segoe UI"/>
              </a:rPr>
              <a:t>Masa percobaan 14 hari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77316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A371F7"/>
                </a:solidFill>
                <a:latin typeface="Segoe UI"/>
              </a:rPr>
              <a:t>Superadmin mengawasi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19472" y="477316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2EC27E"/>
                </a:solidFill>
                <a:latin typeface="Segoe UI"/>
              </a:rPr>
              <a:t>Langganan &amp; pembayaran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68312" y="477316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FF4D5E"/>
                </a:solidFill>
                <a:latin typeface="Segoe UI"/>
              </a:rPr>
              <a:t>Tanpa integrasi polisi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2362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Setiap anggota baru — termasuk yang memakai kode undangan — wajib disetujui admin sebelum bisa memakai aplikasi.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8A6FF"/>
                </a:solidFill>
                <a:latin typeface="Segoe UI"/>
              </a:rPr>
              <a:t>02  · 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Cara Gabung atau Buat Lingkungan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Daftar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Pilih bahasa lebih dulu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06624" y="1536192"/>
            <a:ext cx="329184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27248" y="1298448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58A6FF"/>
                </a:solidFill>
                <a:latin typeface="Segoe UI"/>
              </a:rPr>
              <a:t>Pilih cara bergabung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3 jalur di bawah 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042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JALUR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651760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EC27E"/>
                </a:solidFill>
                <a:latin typeface="Segoe UI"/>
              </a:rPr>
              <a:t>Kode Undangan / 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310128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Ketik kode 6 huruf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atau pindai QR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968496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Kode diperiksa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(masa berlaku, kuota)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4626864"/>
            <a:ext cx="3035808" cy="621792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Lingkungan terisi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otomatis + peran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yang diusulkan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956816" y="3218688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1956816" y="3877056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956816" y="4535424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23042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JALUR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651760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58A6FF"/>
                </a:solidFill>
                <a:latin typeface="Segoe UI"/>
              </a:rPr>
              <a:t>Cari Lingkungan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310128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Cari nama / kota /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alamat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968496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Pilih dari hasil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pencarian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626864"/>
            <a:ext cx="3035808" cy="621792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Tulis pesan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untuk admin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586983" y="3218688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586983" y="3877056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586983" y="4535424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90688" y="23042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JALUR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651760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A371F7"/>
                </a:solidFill>
                <a:latin typeface="Segoe UI"/>
              </a:rPr>
              <a:t>Buat Lingkungan Baru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0688" y="3310128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Isi nama, alamat,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kota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3968496"/>
            <a:ext cx="303580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Lingkungan dibuat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+ percobaan 14 hari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0688" y="4626864"/>
            <a:ext cx="3035808" cy="621792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Langsung AKTIF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sebagai ADMIN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217152" y="3218688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217152" y="3877056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9217152" y="4535424"/>
            <a:ext cx="146304" cy="109728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0352" y="5431536"/>
            <a:ext cx="6665976" cy="512064"/>
          </a:xfrm>
          <a:prstGeom prst="roundRect">
            <a:avLst>
              <a:gd name="adj" fmla="val 10000"/>
            </a:avLst>
          </a:prstGeom>
          <a:solidFill>
            <a:srgbClr val="2A2214"/>
          </a:solidFill>
          <a:ln w="15875">
            <a:solidFill>
              <a:srgbClr val="FFB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B545"/>
                </a:solidFill>
                <a:latin typeface="Segoe UI"/>
              </a:rPr>
              <a:t>Masuk antrean → menunggu persetujuan admin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5431536"/>
            <a:ext cx="3035808" cy="512064"/>
          </a:xfrm>
          <a:prstGeom prst="roundRect">
            <a:avLst>
              <a:gd name="adj" fmla="val 10000"/>
            </a:avLst>
          </a:prstGeom>
          <a:solidFill>
            <a:srgbClr val="142A22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EC27E"/>
                </a:solidFill>
                <a:latin typeface="Segoe UI"/>
              </a:rPr>
              <a:t>Langsung aktif (pendiri)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2362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FFB545"/>
                </a:solidFill>
                <a:latin typeface="Segoe UI"/>
              </a:rPr>
              <a:t>Kode undangan hanya MENGUSULKAN peran dan mengisi lingkungan — tidak melewati antrean persetujuan.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371F7"/>
                </a:solidFill>
                <a:latin typeface="Segoe UI"/>
              </a:rPr>
              <a:t>03  ·  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Persetujuan Admin &amp; Penetapan Peran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17320"/>
            <a:ext cx="2240280" cy="11887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>Pendaftar baru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Nama · HP · Email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Alamat rumah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Cara bergabung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Pesan ke admin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43784" y="1920240"/>
            <a:ext cx="365760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82696" y="1417320"/>
            <a:ext cx="2514600" cy="1188720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A371F7"/>
                </a:solidFill>
                <a:latin typeface="Segoe UI"/>
              </a:rPr>
              <a:t>Admin meninjau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Melihat: lewat kode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undangan / pencarian,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kode dipakai, pesan,</a:t>
            </a:r>
          </a:p>
          <a:p>
            <a:pPr algn="ctr">
              <a:lnSpc>
                <a:spcPct val="95000"/>
              </a:lnSpc>
            </a:pPr>
            <a:r>
              <a:rPr sz="1000">
                <a:solidFill>
                  <a:srgbClr val="9AA7BD"/>
                </a:solidFill>
                <a:latin typeface="Segoe UI"/>
              </a:rPr>
              <a:t>dan data pendaftar</a:t>
            </a:r>
          </a:p>
        </p:txBody>
      </p:sp>
      <p:sp>
        <p:nvSpPr>
          <p:cNvPr id="9" name="Diamond 8"/>
          <p:cNvSpPr/>
          <p:nvPr/>
        </p:nvSpPr>
        <p:spPr>
          <a:xfrm>
            <a:off x="6108192" y="1371600"/>
            <a:ext cx="1481328" cy="1280160"/>
          </a:xfrm>
          <a:prstGeom prst="diamond">
            <a:avLst/>
          </a:prstGeom>
          <a:solidFill>
            <a:srgbClr val="222B3C"/>
          </a:solidFill>
          <a:ln w="19050">
            <a:solidFill>
              <a:srgbClr val="FFB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B545"/>
                </a:solidFill>
                <a:latin typeface="Segoe UI"/>
              </a:rPr>
              <a:t>Setuju?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0448" y="1920240"/>
            <a:ext cx="201168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3" y="1975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C27E"/>
                </a:solidFill>
                <a:latin typeface="Segoe UI"/>
              </a:rPr>
              <a:t>YA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44383" y="1755648"/>
            <a:ext cx="420624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236976" cy="47548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EC27E"/>
                </a:solidFill>
                <a:latin typeface="Segoe UI"/>
              </a:rPr>
              <a:t>Terima — pilih peran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77393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WARGA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03120"/>
            <a:ext cx="1005840" cy="6035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Panik, lapor,</a:t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peta, tamu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177393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SATPAM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2103120"/>
            <a:ext cx="1005840" cy="6035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+ patroli,</a:t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buku tamu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77856" y="177393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7856" y="2103120"/>
            <a:ext cx="1005840" cy="6035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" b="1">
                <a:solidFill>
                  <a:srgbClr val="EEF2F8"/>
                </a:solidFill>
                <a:latin typeface="Segoe U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+ setujui,</a:t>
            </a:r>
          </a:p>
          <a:p>
            <a:pPr algn="ctr">
              <a:lnSpc>
                <a:spcPct val="95000"/>
              </a:lnSpc>
            </a:pPr>
            <a:r>
              <a:rPr sz="850">
                <a:solidFill>
                  <a:srgbClr val="9AA7BD"/>
                </a:solidFill>
                <a:latin typeface="Segoe UI"/>
              </a:rPr>
              <a:t>area, siaran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614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4D5E"/>
                </a:solidFill>
                <a:latin typeface="Segoe UI"/>
              </a:rPr>
              <a:t>TIDAK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784848" y="2706624"/>
            <a:ext cx="182880" cy="365760"/>
          </a:xfrm>
          <a:prstGeom prst="downArrow">
            <a:avLst>
              <a:gd name="adj1" fmla="val 45000"/>
              <a:gd name="adj2" fmla="val 62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720" y="3145536"/>
            <a:ext cx="2212848" cy="56692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4D5E"/>
                </a:solidFill>
                <a:latin typeface="Segoe UI"/>
              </a:rPr>
              <a:t>Tolak + alasan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Pendaftar diberi tahu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2889504"/>
            <a:ext cx="3236976" cy="713232"/>
          </a:xfrm>
          <a:prstGeom prst="roundRect">
            <a:avLst>
              <a:gd name="adj" fmla="val 10000"/>
            </a:avLst>
          </a:prstGeom>
          <a:solidFill>
            <a:srgbClr val="142A22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EC27E"/>
                </a:solidFill>
                <a:latin typeface="Segoe UI"/>
              </a:rPr>
              <a:t>Anggota AKTIF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Tombol daftar hilang → diganti sapaan pribadi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3931920"/>
            <a:ext cx="5138928" cy="1847088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965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371F7"/>
                </a:solidFill>
                <a:latin typeface="Segoe UI"/>
              </a:rPr>
              <a:t>WEWENANG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3891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Terima / tolak setiap pendaftar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613148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Tetapkan peran: Warga · Satpam ·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83717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Ubah peran &amp; tangguhkan anggota kapan saja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061204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Buat kode + QR undangan (kuota, masa berlaku, cabut)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285232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Gambar area lingkungan di peta untuk semua anggota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50926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Kirim siaran darurat + minta konfirmasi keselamatan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88736" y="3931920"/>
            <a:ext cx="5468112" cy="1847088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0965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545"/>
                </a:solidFill>
                <a:latin typeface="Segoe UI"/>
              </a:rPr>
              <a:t>PENGAWASAN SUPERADMIN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3891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Akun tetap: tarafk1972@gmail.com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613148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Memantau seluruh lingkungan &amp;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3717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Verifikasi pembayaran langganan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6120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Menjawab tiket bantuan (customer service)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28523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Perpanjang masa percobaan / tangguhkan lingkungan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5092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Melihat catatan aktivitas (audit log)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2362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Peran yang diusulkan kode undangan otomatis terpilih, tetapi admin tetap bebas mengubahnya sebelum menerima.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4D5E"/>
                </a:solidFill>
                <a:latin typeface="Segoe UI"/>
              </a:rPr>
              <a:t>04  ·  DARURAT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Alur Tombol Panik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572768"/>
            <a:ext cx="1755648" cy="1755648"/>
          </a:xfrm>
          <a:prstGeom prst="ellipse">
            <a:avLst/>
          </a:prstGeom>
          <a:solidFill>
            <a:srgbClr val="C8102E"/>
          </a:solidFill>
          <a:ln w="317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DARURAT</a:t>
            </a:r>
          </a:p>
          <a:p>
            <a:pPr algn="ctr"/>
            <a:r>
              <a:rPr sz="900">
                <a:solidFill>
                  <a:srgbClr val="FFD0D6"/>
                </a:solidFill>
                <a:latin typeface="Segoe UI"/>
              </a:rPr>
              <a:t>tahan 2 detik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891"/>
                </a:solidFill>
                <a:latin typeface="Segoe UI"/>
              </a:rPr>
              <a:t>Satu layar,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891"/>
                </a:solidFill>
                <a:latin typeface="Segoe UI"/>
              </a:rPr>
              <a:t>satu tombol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32304" y="2340864"/>
            <a:ext cx="347472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481328"/>
            <a:ext cx="2788920" cy="21031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62763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4D5E"/>
                </a:solidFill>
                <a:latin typeface="Segoe UI"/>
              </a:rPr>
              <a:t>YANG DIKIRIM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Lokasi GPS + akurasi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4426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Lokasi langsung (terus)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6829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Profil &amp; data medis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92324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Rekaman suara 15 detik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16352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Foto / video (opsional)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4038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Jenis darurat (opsional)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6440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Waktu kejadian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33288" y="2340864"/>
            <a:ext cx="347472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1481328"/>
            <a:ext cx="2331720" cy="21031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276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C27E"/>
                </a:solidFill>
                <a:latin typeface="Segoe UI"/>
              </a:rPr>
              <a:t>DIKIRIM KE</a:t>
            </a:r>
          </a:p>
        </p:txBody>
      </p:sp>
      <p:sp>
        <p:nvSpPr>
          <p:cNvPr id="21" name="Oval 20"/>
          <p:cNvSpPr/>
          <p:nvPr/>
        </p:nvSpPr>
        <p:spPr>
          <a:xfrm>
            <a:off x="6345936" y="2025396"/>
            <a:ext cx="109728" cy="109728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97510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Keluarga</a:t>
            </a:r>
          </a:p>
        </p:txBody>
      </p:sp>
      <p:sp>
        <p:nvSpPr>
          <p:cNvPr id="23" name="Oval 22"/>
          <p:cNvSpPr/>
          <p:nvPr/>
        </p:nvSpPr>
        <p:spPr>
          <a:xfrm>
            <a:off x="6345936" y="2308860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2585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Teman terpercaya</a:t>
            </a:r>
          </a:p>
        </p:txBody>
      </p:sp>
      <p:sp>
        <p:nvSpPr>
          <p:cNvPr id="25" name="Oval 24"/>
          <p:cNvSpPr/>
          <p:nvPr/>
        </p:nvSpPr>
        <p:spPr>
          <a:xfrm>
            <a:off x="6345936" y="2592324"/>
            <a:ext cx="109728" cy="109728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254203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Responder komunitas</a:t>
            </a:r>
          </a:p>
        </p:txBody>
      </p:sp>
      <p:sp>
        <p:nvSpPr>
          <p:cNvPr id="27" name="Oval 26"/>
          <p:cNvSpPr/>
          <p:nvPr/>
        </p:nvSpPr>
        <p:spPr>
          <a:xfrm>
            <a:off x="6345936" y="2875788"/>
            <a:ext cx="109728" cy="109728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282549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Satpam</a:t>
            </a:r>
          </a:p>
        </p:txBody>
      </p:sp>
      <p:sp>
        <p:nvSpPr>
          <p:cNvPr id="29" name="Oval 28"/>
          <p:cNvSpPr/>
          <p:nvPr/>
        </p:nvSpPr>
        <p:spPr>
          <a:xfrm>
            <a:off x="6345936" y="3159252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10896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Relawan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95360" y="2340864"/>
            <a:ext cx="347472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15984" y="1481328"/>
            <a:ext cx="2340864" cy="21031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16276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8A6FF"/>
                </a:solidFill>
                <a:latin typeface="Segoe UI"/>
              </a:rPr>
              <a:t>RESPONS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197510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Penerima lihat lokasi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22722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Tekan “Saya menuju lokasi”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256946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Percakapan dua arah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286664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Pengirim lihat siapa datang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316382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•  Selesai: “Saya sudah aman”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840480"/>
            <a:ext cx="5285232" cy="1170432"/>
          </a:xfrm>
          <a:prstGeom prst="roundRect">
            <a:avLst>
              <a:gd name="adj" fmla="val 5000"/>
            </a:avLst>
          </a:prstGeom>
          <a:solidFill>
            <a:srgbClr val="2A1418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00507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4D5E"/>
                </a:solidFill>
                <a:latin typeface="Segoe UI"/>
              </a:rPr>
              <a:t>PENGAMAN ALARM PALSU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2976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Wajib ditahan 2 detik — sentuhan tak sengaja tidak mengirim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262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Lepas jari sebelum penuh → batal 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7548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Setelah terkirim: “Alarm palsu — batalkan” &amp; “Saya sudah aman”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1616" y="3840480"/>
            <a:ext cx="5285232" cy="1170432"/>
          </a:xfrm>
          <a:prstGeom prst="roundRect">
            <a:avLst>
              <a:gd name="adj" fmla="val 5000"/>
            </a:avLst>
          </a:prstGeom>
          <a:solidFill>
            <a:srgbClr val="141E2C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00507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8A6FF"/>
                </a:solidFill>
                <a:latin typeface="Segoe UI"/>
              </a:rPr>
              <a:t>URUTAN YANG DISENGAJA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2976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GPS diambil DULU, sebelum peringatan dikirim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45262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Rekaman suara mulai SETELAH peringatan keluar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475488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7BD"/>
                </a:solidFill>
                <a:latin typeface="Segoe UI"/>
              </a:rPr>
              <a:t>▸  Jenis darurat dipilih SETELAH terkirim — tidak memperlambat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175504"/>
            <a:ext cx="10789920" cy="56692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FFB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>
                <a:solidFill>
                  <a:srgbClr val="FFB545"/>
                </a:solidFill>
                <a:latin typeface="Segoe UI"/>
              </a:rPr>
              <a:t>TIDAK ADA INTEGRASI POLISI / 110 / 112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Peringatan hanya mengalir ke jaringan warga. Pengguna diingatkan untuk menghubungi pihak berwenang sendiri bila diperlukan.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590702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Mikrofon ditolak atau GPS gagal tidak pernah membatalkan pengiriman peringatan.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C27E"/>
                </a:solidFill>
                <a:latin typeface="Segoe UI"/>
              </a:rPr>
              <a:t>05  ·  JARINGAN BANTUAN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Siapa Menerima &amp; Bagaimana Merespons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4937760" cy="2340864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1790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C27E"/>
                </a:solidFill>
                <a:latin typeface="Segoe UI"/>
              </a:rPr>
              <a:t>SIAPA YANG MENERIMA PERINGATAN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47088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>
                <a:solidFill>
                  <a:srgbClr val="0D1117"/>
                </a:solidFill>
                <a:latin typeface="Segoe UI"/>
              </a:rPr>
              <a:t>PRIBADI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56231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Keluarga · Teman terpercaya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39696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Ditambahkan sendiri oleh tiap anggota.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Hanya menerima peringatan pemiliknya.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33472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>
                <a:solidFill>
                  <a:srgbClr val="0D1117"/>
                </a:solidFill>
                <a:latin typeface="Segoe UI"/>
              </a:rPr>
              <a:t>KOMUNITAS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642615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Responder · Satpam · Relawan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26079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Wajib diverifikasi admin dulu.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Satpam &amp; admin otomatis termasuk.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38328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Aturan: kontak pribadi satu anggota tidak pernah bocor ke anggota lain.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05856" y="1353312"/>
            <a:ext cx="5650992" cy="2340864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51790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8A6FF"/>
                </a:solidFill>
                <a:latin typeface="Segoe UI"/>
              </a:rPr>
              <a:t>ALUR RESPONS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8836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58A6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8653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Peringatan tiba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802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Muncul di layar utama penerima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61888" y="23408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58A6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3225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“Saya menuju lokasi”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374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Status berubah, pengirim melihatnya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27980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58A6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7797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Koordinasi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9946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Percakapan + foto di dalam insiden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1888" y="32552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50" b="1">
                <a:solidFill>
                  <a:srgbClr val="58A6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2369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2F8"/>
                </a:solidFill>
                <a:latin typeface="Segoe UI"/>
              </a:rPr>
              <a:t>Ditutup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4518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Pengirim tekan “Saya sudah aman”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877056"/>
            <a:ext cx="10826496" cy="329184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9AA7BD"/>
                </a:solidFill>
                <a:latin typeface="Segoe UI"/>
              </a:rPr>
              <a:t>SITUASI BESAR: ADMIN KIRIM SIARAN KE SEMUA ANGGOTA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4352544"/>
            <a:ext cx="2395728" cy="10607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FFB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>
                <a:solidFill>
                  <a:srgbClr val="FFB545"/>
                </a:solidFill>
                <a:latin typeface="Segoe UI"/>
              </a:rPr>
              <a:t>Admin kirim siaran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Pilih tingkat: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Informasi / Peringatan / Darurat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6976" y="4352544"/>
            <a:ext cx="2395728" cy="10607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>
                <a:solidFill>
                  <a:srgbClr val="58A6FF"/>
                </a:solidFill>
                <a:latin typeface="Segoe UI"/>
              </a:rPr>
              <a:t>Instruksi keselamatan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Contoh: “Tetap di dalam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rumah, kunci pintu.”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352544"/>
            <a:ext cx="2395728" cy="10607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>
                <a:solidFill>
                  <a:srgbClr val="2EC27E"/>
                </a:solidFill>
                <a:latin typeface="Segoe UI"/>
              </a:rPr>
              <a:t>Warga menjawab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“Saya aman” atau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“Butuh bantuan”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50224" y="4352544"/>
            <a:ext cx="2395728" cy="106070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>
                <a:solidFill>
                  <a:srgbClr val="A371F7"/>
                </a:solidFill>
                <a:latin typeface="Segoe UI"/>
              </a:rPr>
              <a:t>Admin lihat rekap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Siapa aman, siapa butuh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9AA7BD"/>
                </a:solidFill>
                <a:latin typeface="Segoe UI"/>
              </a:rPr>
              <a:t>bantuan, siapa belum jawab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962656" y="4800600"/>
            <a:ext cx="237744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5669280" y="4800600"/>
            <a:ext cx="237744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375904" y="4800600"/>
            <a:ext cx="237744" cy="190195"/>
          </a:xfrm>
          <a:prstGeom prst="rightArrow">
            <a:avLst>
              <a:gd name="adj1" fmla="val 55000"/>
              <a:gd name="adj2" fmla="val 42000"/>
            </a:avLst>
          </a:prstGeom>
          <a:solidFill>
            <a:srgbClr val="6B7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61441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Siaran dipakai untuk kejadian yang menyangkut banyak orang; tombol panik untuk darurat pribadi.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68580" cy="566928"/>
          </a:xfrm>
          <a:prstGeom prst="roundRect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B545"/>
                </a:solidFill>
                <a:latin typeface="Segoe UI"/>
              </a:rPr>
              <a:t>06  ·  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2F8"/>
                </a:solidFill>
                <a:latin typeface="Segoe UI"/>
              </a:rPr>
              <a:t>Peran &amp; Hak Akses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2706624" cy="47548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2EC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2EC27E"/>
                </a:solidFill>
                <a:latin typeface="Segoe UI"/>
              </a:rPr>
              <a:t>WARGA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01952"/>
            <a:ext cx="2706624" cy="30175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685800" y="2135124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6654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Tombol panik darurat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542032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7345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Kirim laporan kejadian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48939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8035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Kirim info anonim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355847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287267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Lihat peta &amp; area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762755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94175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Kelola jaringan bantuan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169663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0108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Profil darurat medis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576572"/>
            <a:ext cx="77724" cy="77724"/>
          </a:xfrm>
          <a:prstGeom prst="ellipse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507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Terima siaran &amp; konfirmasi aman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76" y="1353312"/>
            <a:ext cx="2706624" cy="47548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58A6FF"/>
                </a:solidFill>
                <a:latin typeface="Segoe UI"/>
              </a:rPr>
              <a:t>SATPAM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6976" y="1901952"/>
            <a:ext cx="2706624" cy="30175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3392424" y="2135124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06654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Semua hak Warga</a:t>
            </a:r>
          </a:p>
        </p:txBody>
      </p:sp>
      <p:sp>
        <p:nvSpPr>
          <p:cNvPr id="26" name="Oval 25"/>
          <p:cNvSpPr/>
          <p:nvPr/>
        </p:nvSpPr>
        <p:spPr>
          <a:xfrm>
            <a:off x="3392424" y="2542032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247345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Buku tamu masuk/keluar</a:t>
            </a:r>
          </a:p>
        </p:txBody>
      </p:sp>
      <p:sp>
        <p:nvSpPr>
          <p:cNvPr id="28" name="Oval 27"/>
          <p:cNvSpPr/>
          <p:nvPr/>
        </p:nvSpPr>
        <p:spPr>
          <a:xfrm>
            <a:off x="3392424" y="2948939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288035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Patroli + titik pantau</a:t>
            </a:r>
          </a:p>
        </p:txBody>
      </p:sp>
      <p:sp>
        <p:nvSpPr>
          <p:cNvPr id="30" name="Oval 29"/>
          <p:cNvSpPr/>
          <p:nvPr/>
        </p:nvSpPr>
        <p:spPr>
          <a:xfrm>
            <a:off x="3392424" y="3355847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3287267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Tangani laporan warga</a:t>
            </a:r>
          </a:p>
        </p:txBody>
      </p:sp>
      <p:sp>
        <p:nvSpPr>
          <p:cNvPr id="32" name="Oval 31"/>
          <p:cNvSpPr/>
          <p:nvPr/>
        </p:nvSpPr>
        <p:spPr>
          <a:xfrm>
            <a:off x="3392424" y="3762755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694175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Terima semua peringatan</a:t>
            </a:r>
          </a:p>
        </p:txBody>
      </p:sp>
      <p:sp>
        <p:nvSpPr>
          <p:cNvPr id="34" name="Oval 33"/>
          <p:cNvSpPr/>
          <p:nvPr/>
        </p:nvSpPr>
        <p:spPr>
          <a:xfrm>
            <a:off x="3392424" y="4169663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410108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Lihat profil darurat pelapor</a:t>
            </a:r>
          </a:p>
        </p:txBody>
      </p:sp>
      <p:sp>
        <p:nvSpPr>
          <p:cNvPr id="36" name="Oval 35"/>
          <p:cNvSpPr/>
          <p:nvPr/>
        </p:nvSpPr>
        <p:spPr>
          <a:xfrm>
            <a:off x="3392424" y="4576572"/>
            <a:ext cx="77724" cy="7772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4507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“Saya menuju lokasi”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1353312"/>
            <a:ext cx="2706624" cy="47548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A371F7"/>
                </a:solidFill>
                <a:latin typeface="Segoe UI"/>
              </a:rPr>
              <a:t>ADMIN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1901952"/>
            <a:ext cx="2706624" cy="30175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6099048" y="2135124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206654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Semua hak Satpam</a:t>
            </a:r>
          </a:p>
        </p:txBody>
      </p:sp>
      <p:sp>
        <p:nvSpPr>
          <p:cNvPr id="42" name="Oval 41"/>
          <p:cNvSpPr/>
          <p:nvPr/>
        </p:nvSpPr>
        <p:spPr>
          <a:xfrm>
            <a:off x="6099048" y="2542032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47345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Terima / tolak pendaftar</a:t>
            </a:r>
          </a:p>
        </p:txBody>
      </p:sp>
      <p:sp>
        <p:nvSpPr>
          <p:cNvPr id="44" name="Oval 43"/>
          <p:cNvSpPr/>
          <p:nvPr/>
        </p:nvSpPr>
        <p:spPr>
          <a:xfrm>
            <a:off x="6099048" y="2948939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4496" y="288035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Tetapkan &amp; ubah peran</a:t>
            </a:r>
          </a:p>
        </p:txBody>
      </p:sp>
      <p:sp>
        <p:nvSpPr>
          <p:cNvPr id="46" name="Oval 45"/>
          <p:cNvSpPr/>
          <p:nvPr/>
        </p:nvSpPr>
        <p:spPr>
          <a:xfrm>
            <a:off x="6099048" y="3355847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3287267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Buat kode + QR undangan</a:t>
            </a:r>
          </a:p>
        </p:txBody>
      </p:sp>
      <p:sp>
        <p:nvSpPr>
          <p:cNvPr id="48" name="Oval 47"/>
          <p:cNvSpPr/>
          <p:nvPr/>
        </p:nvSpPr>
        <p:spPr>
          <a:xfrm>
            <a:off x="6099048" y="3762755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4496" y="3694175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Gambar area di peta</a:t>
            </a:r>
          </a:p>
        </p:txBody>
      </p:sp>
      <p:sp>
        <p:nvSpPr>
          <p:cNvPr id="50" name="Oval 49"/>
          <p:cNvSpPr/>
          <p:nvPr/>
        </p:nvSpPr>
        <p:spPr>
          <a:xfrm>
            <a:off x="6099048" y="4169663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54496" y="410108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Kirim siaran darurat</a:t>
            </a:r>
          </a:p>
        </p:txBody>
      </p:sp>
      <p:sp>
        <p:nvSpPr>
          <p:cNvPr id="52" name="Oval 51"/>
          <p:cNvSpPr/>
          <p:nvPr/>
        </p:nvSpPr>
        <p:spPr>
          <a:xfrm>
            <a:off x="6099048" y="4576572"/>
            <a:ext cx="77724" cy="7772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54496" y="4507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Kelola langganan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50224" y="1353312"/>
            <a:ext cx="2706624" cy="475488"/>
          </a:xfrm>
          <a:prstGeom prst="roundRect">
            <a:avLst>
              <a:gd name="adj" fmla="val 10000"/>
            </a:avLst>
          </a:prstGeom>
          <a:solidFill>
            <a:srgbClr val="222B3C"/>
          </a:solidFill>
          <a:ln w="15875">
            <a:solidFill>
              <a:srgbClr val="FFB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B545"/>
                </a:solidFill>
                <a:latin typeface="Segoe UI"/>
              </a:rPr>
              <a:t>SUPERADMIN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50224" y="1901952"/>
            <a:ext cx="2706624" cy="3017520"/>
          </a:xfrm>
          <a:prstGeom prst="roundRect">
            <a:avLst>
              <a:gd name="adj" fmla="val 5000"/>
            </a:avLst>
          </a:prstGeom>
          <a:solidFill>
            <a:srgbClr val="1A2130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56" name="Oval 55"/>
          <p:cNvSpPr/>
          <p:nvPr/>
        </p:nvSpPr>
        <p:spPr>
          <a:xfrm>
            <a:off x="8805672" y="2135124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206654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tarafk1972@gmail.com</a:t>
            </a:r>
          </a:p>
        </p:txBody>
      </p:sp>
      <p:sp>
        <p:nvSpPr>
          <p:cNvPr id="58" name="Oval 57"/>
          <p:cNvSpPr/>
          <p:nvPr/>
        </p:nvSpPr>
        <p:spPr>
          <a:xfrm>
            <a:off x="8805672" y="2542032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0" y="247345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Pantau semua lingkungan</a:t>
            </a:r>
          </a:p>
        </p:txBody>
      </p:sp>
      <p:sp>
        <p:nvSpPr>
          <p:cNvPr id="60" name="Oval 59"/>
          <p:cNvSpPr/>
          <p:nvPr/>
        </p:nvSpPr>
        <p:spPr>
          <a:xfrm>
            <a:off x="8805672" y="2948939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288035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Awasi seluruh admin</a:t>
            </a:r>
          </a:p>
        </p:txBody>
      </p:sp>
      <p:sp>
        <p:nvSpPr>
          <p:cNvPr id="62" name="Oval 61"/>
          <p:cNvSpPr/>
          <p:nvPr/>
        </p:nvSpPr>
        <p:spPr>
          <a:xfrm>
            <a:off x="8805672" y="3355847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0" y="3287267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Verifikasi pembayaran</a:t>
            </a:r>
          </a:p>
        </p:txBody>
      </p:sp>
      <p:sp>
        <p:nvSpPr>
          <p:cNvPr id="64" name="Oval 63"/>
          <p:cNvSpPr/>
          <p:nvPr/>
        </p:nvSpPr>
        <p:spPr>
          <a:xfrm>
            <a:off x="8805672" y="3762755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694175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Customer service (tiket)</a:t>
            </a:r>
          </a:p>
        </p:txBody>
      </p:sp>
      <p:sp>
        <p:nvSpPr>
          <p:cNvPr id="66" name="Oval 65"/>
          <p:cNvSpPr/>
          <p:nvPr/>
        </p:nvSpPr>
        <p:spPr>
          <a:xfrm>
            <a:off x="8805672" y="4169663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61120" y="410108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Perpanjang percobaan</a:t>
            </a:r>
          </a:p>
        </p:txBody>
      </p:sp>
      <p:sp>
        <p:nvSpPr>
          <p:cNvPr id="68" name="Oval 67"/>
          <p:cNvSpPr/>
          <p:nvPr/>
        </p:nvSpPr>
        <p:spPr>
          <a:xfrm>
            <a:off x="8805672" y="4576572"/>
            <a:ext cx="77724" cy="77724"/>
          </a:xfrm>
          <a:prstGeom prst="ellipse">
            <a:avLst/>
          </a:prstGeom>
          <a:solidFill>
            <a:srgbClr val="FFB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20" y="4507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AA7BD"/>
                </a:solidFill>
                <a:latin typeface="Segoe UI"/>
              </a:rPr>
              <a:t>Catatan aktivitas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0352" y="5084064"/>
            <a:ext cx="10826496" cy="786384"/>
          </a:xfrm>
          <a:prstGeom prst="roundRect">
            <a:avLst>
              <a:gd name="adj" fmla="val 5000"/>
            </a:avLst>
          </a:prstGeom>
          <a:solidFill>
            <a:srgbClr val="222B3C"/>
          </a:solidFill>
          <a:ln w="15875">
            <a:solidFill>
              <a:srgbClr val="2C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EEF2F8"/>
                </a:solidFill>
                <a:latin typeface="Segoe UI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5212080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545"/>
                </a:solidFill>
                <a:latin typeface="Segoe UI"/>
              </a:rPr>
              <a:t>PRINSIP UTAMA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" y="5431536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Warga pertama otomatis jadi Admin  ·  Semua pendaftar wajib disetujui admin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7BD"/>
                </a:solidFill>
                <a:latin typeface="Segoe UI"/>
              </a:rPr>
              <a:t>Percobaan gratis 14 hari  ·  Peringatan hanya ke jaringan warga, bukan polisi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0167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891"/>
                </a:solidFill>
                <a:latin typeface="Segoe UI"/>
              </a:rPr>
              <a:t>Warga Jaga Warga — Versi 1 (MVP)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